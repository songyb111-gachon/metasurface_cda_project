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4A35"/>
                </a:solidFill>
              </a:defRPr>
            </a:pPr>
            <a:r>
              <a:t>Mini </a:t>
            </a:r>
            <a:r>
              <a:rPr dirty="0"/>
              <a:t>Project  · 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0F2E5C"/>
                </a:solidFill>
              </a:defRPr>
            </a:pPr>
            <a:r>
              <a:t>Inter-Meta-Atom Coupling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4600" b="1">
                <a:solidFill>
                  <a:srgbClr val="0F2E5C"/>
                </a:solidFill>
              </a:defRPr>
            </a:pPr>
            <a:r>
              <a:t>in a 1D Metasurface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E6BB0"/>
                </a:solidFill>
              </a:defRPr>
            </a:pPr>
            <a:r>
              <a:t>A 2D scalar Coupled-Dipole study,  cross-validated against Tidy3D FDTD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6B6B78"/>
                </a:solidFill>
              </a:defRPr>
            </a:pPr>
            <a:r>
              <a:t>1D 메타서페이스의 메타 원자 간 결합 — CDA 연구, Tidy3D FDTD 외부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07040" cy="128016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25400">
            <a:solidFill>
              <a:srgbClr val="1F7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Headline finding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2400" b="1">
                <a:solidFill>
                  <a:srgbClr val="0F2E5C"/>
                </a:solidFill>
              </a:defRPr>
            </a:pPr>
            <a:r>
              <a:t>|Δφ|(P) ≈ 3.9 · (λ/P)^β,    β = 0.90 ± 0.10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6B6B78"/>
                </a:solidFill>
              </a:defRPr>
            </a:pPr>
            <a:r>
              <a:t>robust across N, grading width, random α  ·  FDTD agreement RMS = 2.9°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연구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32720" cy="219456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25400">
            <a:solidFill>
              <a:srgbClr val="0F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1F1F24"/>
                </a:solidFill>
              </a:defRPr>
            </a:pPr>
            <a:endParaRPr/>
          </a:p>
          <a:p>
            <a:pPr algn="ctr"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1F1F24"/>
                </a:solidFill>
              </a:defRPr>
            </a:pPr>
            <a:r>
              <a:t>"How does the phase distortion caused by inter-meta-atom coupling INCREASE as the array period P DECREASES?"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1F1F24"/>
                </a:solidFill>
              </a:defRPr>
            </a:pPr>
            <a:endParaRPr/>
          </a:p>
          <a:p>
            <a:pPr algn="ctr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C04A35"/>
                </a:solidFill>
              </a:defRPr>
            </a:pPr>
            <a:r>
              <a:t>"배열 주기 P가 줄어들수록 메타 원자 간 커플링에 의한 위상 왜곡이 어떻게 증가하는가?"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4A35"/>
                </a:solidFill>
              </a:defRPr>
            </a:pPr>
            <a:r>
              <a:t>Why it matters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78"/>
                </a:solidFill>
              </a:defRPr>
            </a:pPr>
            <a:r>
              <a:t>왜 중요한가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F1F24"/>
                </a:solidFill>
              </a:defRPr>
            </a:pPr>
            <a:r>
              <a:t>• Standard metasurface design treats each meta-atom as isolated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78"/>
                </a:solidFill>
              </a:defRPr>
            </a:pPr>
            <a:r>
              <a:t>  표준 설계는 각 메타 원자를 isolated 로 가정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F1F24"/>
                </a:solidFill>
              </a:defRPr>
            </a:pPr>
            <a:r>
              <a:t>• Real coupling distorts the achieved phase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78"/>
                </a:solidFill>
              </a:defRPr>
            </a:pPr>
            <a:r>
              <a:t>  실제 결합은 구현된 위상을 왜곡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F1F24"/>
                </a:solidFill>
              </a:defRPr>
            </a:pPr>
            <a:r>
              <a:t>• Need a quantitative LAW relating distortion to period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78"/>
                </a:solidFill>
              </a:defRPr>
            </a:pPr>
            <a:r>
              <a:t>  주기와 왜곡을 잇는 정량 법칙이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Model +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모델 +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4A35"/>
                </a:solidFill>
              </a:defRPr>
            </a:pPr>
            <a:r>
              <a:t>Coupled Dipole Approximation (TM scalar)</a:t>
            </a:r>
          </a:p>
        </p:txBody>
      </p:sp>
      <p:pic>
        <p:nvPicPr>
          <p:cNvPr id="8" name="Picture 7" descr="eq_555613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3608738" cy="502920"/>
          </a:xfrm>
          <a:prstGeom prst="rect">
            <a:avLst/>
          </a:prstGeom>
        </p:spPr>
      </p:pic>
      <p:pic>
        <p:nvPicPr>
          <p:cNvPr id="9" name="Picture 8" descr="eq_a4adc4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4246880" cy="502920"/>
          </a:xfrm>
          <a:prstGeom prst="rect">
            <a:avLst/>
          </a:prstGeom>
        </p:spPr>
      </p:pic>
      <p:pic>
        <p:nvPicPr>
          <p:cNvPr id="10" name="Picture 9" descr="eq_2a1591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91840"/>
            <a:ext cx="5767251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023360"/>
            <a:ext cx="5852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6BB0"/>
                </a:solidFill>
              </a:defRPr>
            </a:pPr>
            <a:r>
              <a:t>Implementation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B6B78"/>
                </a:solidFill>
              </a:defRPr>
            </a:pPr>
            <a:r>
              <a:t>구현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1F1F24"/>
                </a:solidFill>
              </a:defRPr>
            </a:pPr>
            <a:r>
              <a:t>• Python + NumPy + SciPy Hankel function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6B78"/>
                </a:solidFill>
              </a:defRPr>
            </a:pPr>
            <a:r>
              <a:t>  Python + NumPy + SciPy 직접 코딩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1F1F24"/>
                </a:solidFill>
              </a:defRPr>
            </a:pPr>
            <a:r>
              <a:t>• N x N matrix from broadcasting, np.linalg.solve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6B78"/>
                </a:solidFill>
              </a:defRPr>
            </a:pPr>
            <a:r>
              <a:t>  넘파이 브로드캐스팅 + 선형 시스템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1F1F24"/>
                </a:solidFill>
              </a:defRPr>
            </a:pPr>
            <a:r>
              <a:t>• Lorentzian α with (ω₀, γ, F) = (2.1π, 0.4, 4.0) default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6B78"/>
                </a:solidFill>
              </a:defRPr>
            </a:pPr>
            <a:r>
              <a:t>  Lorentz α 디폴트 파라미터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1F1F24"/>
                </a:solidFill>
              </a:defRPr>
            </a:pPr>
            <a:r>
              <a:t>• Normalized units: λ = 1, k₀ = 2π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6B78"/>
                </a:solidFill>
              </a:defRPr>
            </a:pPr>
            <a:r>
              <a:t>  단위: λ = 1, k₀ = 2π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4A35"/>
                </a:solidFill>
              </a:defRPr>
            </a:pPr>
            <a:r>
              <a:t>What we measure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B6B78"/>
                </a:solidFill>
              </a:defRPr>
            </a:pPr>
            <a:r>
              <a:t>측정하는 양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1F1F24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F2E5C"/>
                </a:solidFill>
              </a:defRPr>
            </a:pPr>
            <a:r>
              <a:t>▸  Per-atom phase deviation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1F1F24"/>
                </a:solidFill>
              </a:defRPr>
            </a:pPr>
            <a:r>
              <a:t>     Δφ_i = arg(p_i,coupled) − arg(p_i,isolated)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1F1F24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F2E5C"/>
                </a:solidFill>
              </a:defRPr>
            </a:pPr>
            <a:r>
              <a:t>▸  Mean magnitude over array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1F1F24"/>
                </a:solidFill>
              </a:defRPr>
            </a:pPr>
            <a:r>
              <a:t>     |Δφ|̄ = (1/N) Σ |Δφ_i|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1F1F24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F2E5C"/>
                </a:solidFill>
              </a:defRPr>
            </a:pPr>
            <a:r>
              <a:t>▸  Sweep over P, fit |Δφ|̄(P)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B6B78"/>
                </a:solidFill>
              </a:defRPr>
            </a:pPr>
            <a:r>
              <a:t>     주기 P 스윕 + power-law 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Verification:  10 / 10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솔버 검증: 10/10 통과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411480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17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1F24"/>
                </a:solidFill>
              </a:defRPr>
            </a:pPr>
            <a:r>
              <a:t>Single dipole = α·E_inc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417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B4C"/>
                </a:solidFill>
              </a:defRPr>
            </a:pPr>
            <a:r>
              <a:t>rel. err  1.5×10⁻¹⁶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1124712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74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1F24"/>
                </a:solidFill>
              </a:defRPr>
            </a:pPr>
            <a:r>
              <a:t>Two-dipole analytical p = α/(1−αG)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874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B4C"/>
                </a:solidFill>
              </a:defRPr>
            </a:pPr>
            <a:r>
              <a:t>2.5×10⁻¹⁶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86000"/>
            <a:ext cx="11247120" cy="411480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331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331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1F24"/>
                </a:solidFill>
              </a:defRPr>
            </a:pPr>
            <a:r>
              <a:t>Green's function formula + reciprocity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331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B4C"/>
                </a:solidFill>
              </a:defRPr>
            </a:pPr>
            <a:r>
              <a:t>exact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788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889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1F24"/>
                </a:solidFill>
              </a:defRPr>
            </a:pPr>
            <a:r>
              <a:t>Linear system residual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788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B4C"/>
                </a:solidFill>
              </a:defRPr>
            </a:pPr>
            <a:r>
              <a:t>2.4×10⁻¹⁶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00400"/>
            <a:ext cx="11247120" cy="411480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2461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1F24"/>
                </a:solidFill>
              </a:defRPr>
            </a:pPr>
            <a:r>
              <a:t>Mirror symmetry of centred array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246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B4C"/>
                </a:solidFill>
              </a:defRPr>
            </a:pPr>
            <a:r>
              <a:t>3.3×10⁻¹⁶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57600"/>
            <a:ext cx="1124712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703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703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1F24"/>
                </a:solidFill>
              </a:defRPr>
            </a:pPr>
            <a:r>
              <a:t>Matrix reciprocity A_ij = A_ji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703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B4C"/>
                </a:solidFill>
              </a:defRPr>
            </a:pPr>
            <a:r>
              <a:t>exact 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11247120" cy="411480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160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160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1F24"/>
                </a:solidFill>
              </a:defRPr>
            </a:pPr>
            <a:r>
              <a:t>Array-size convergence (2D 1/√N)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160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B4C"/>
                </a:solidFill>
              </a:defRPr>
            </a:pPr>
            <a:r>
              <a:t>slope ≈ −0.26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572000"/>
            <a:ext cx="1124712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617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617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1F24"/>
                </a:solidFill>
              </a:defRPr>
            </a:pPr>
            <a:r>
              <a:t>Wavelength scaling invariance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617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B4C"/>
                </a:solidFill>
              </a:defRPr>
            </a:pPr>
            <a:r>
              <a:t>exact 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029200"/>
            <a:ext cx="11247120" cy="411480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074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0749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1F24"/>
                </a:solidFill>
              </a:defRPr>
            </a:pPr>
            <a:r>
              <a:t>Extinction power positivity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074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B4C"/>
                </a:solidFill>
              </a:defRPr>
            </a:pPr>
            <a:r>
              <a:t>all P_ext &gt; 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486400"/>
            <a:ext cx="1124712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532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5321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1F24"/>
                </a:solidFill>
              </a:defRPr>
            </a:pPr>
            <a:r>
              <a:t>Non-uniform → uniform limit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5532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B4C"/>
                </a:solidFill>
              </a:defRPr>
            </a:pPr>
            <a:r>
              <a:t>exact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Direct Answer — The Increase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연구 질문에 대한 직접적 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4 / 15</a:t>
            </a:r>
          </a:p>
        </p:txBody>
      </p:sp>
      <p:pic>
        <p:nvPicPr>
          <p:cNvPr id="7" name="Picture 6" descr="eq_8d7c49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8176708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057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78"/>
                </a:solidFill>
              </a:defRPr>
            </a:pPr>
            <a:r>
              <a:t>Sub-wavelength regime  P ∈ [0.55, 0.85] λ,  N = 21,  R² = 0.73</a:t>
            </a:r>
          </a:p>
        </p:txBody>
      </p:sp>
      <p:pic>
        <p:nvPicPr>
          <p:cNvPr id="9" name="Picture 8" descr="Q_main_subwavelength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606040"/>
            <a:ext cx="5386647" cy="3291840"/>
          </a:xfrm>
          <a:prstGeom prst="rect">
            <a:avLst/>
          </a:prstGeom>
        </p:spPr>
      </p:pic>
      <p:pic>
        <p:nvPicPr>
          <p:cNvPr id="10" name="Picture 9" descr="Q_loglog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06040"/>
            <a:ext cx="5486400" cy="211015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5989320"/>
            <a:ext cx="11521440" cy="68580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19050">
            <a:solidFill>
              <a:srgbClr val="1F7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P = 0.85 λ → 3.80°    |    P = 0.55 λ → 5.98°    |    ratio  1.57×  (+57 %)    |    β ≈ 1  ⇒  approximately 1/P scaling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B6B78"/>
                </a:solidFill>
              </a:defRPr>
            </a:pPr>
            <a:r>
              <a:t>P가 줄어들수록 위상 왜곡은 약 1/P 비율로 증가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β depends on F and on fit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결합 강도 F + 윈도우 의존성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5 / 15</a:t>
            </a:r>
          </a:p>
        </p:txBody>
      </p:sp>
      <p:pic>
        <p:nvPicPr>
          <p:cNvPr id="7" name="Picture 6" descr="Q_F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852160" cy="3576320"/>
          </a:xfrm>
          <a:prstGeom prst="rect">
            <a:avLst/>
          </a:prstGeom>
        </p:spPr>
      </p:pic>
      <p:pic>
        <p:nvPicPr>
          <p:cNvPr id="8" name="Picture 7" descr="Q_multi_wind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3149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6172200"/>
            <a:ext cx="11521440" cy="457200"/>
          </a:xfrm>
          <a:prstGeom prst="roundRect">
            <a:avLst>
              <a:gd name="adj" fmla="val 10000"/>
            </a:avLst>
          </a:prstGeom>
          <a:solidFill>
            <a:srgbClr val="FAF3EB"/>
          </a:solidFill>
          <a:ln w="12700">
            <a:solidFill>
              <a:srgbClr val="C0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C04A35"/>
                </a:solidFill>
              </a:defRPr>
            </a:pPr>
            <a:r>
              <a:t>β tunes 1.23 → 0.46 with F  •  β varies 0.55 – 1.58 across windows →  β ≈ 0.9 is the EFFECTIVE exponent at our coupling strength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Result A — Off-resonance mean |Δφ|(P)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결과 A — 비공명 평균 위상 편차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6 / 15</a:t>
            </a:r>
          </a:p>
        </p:txBody>
      </p:sp>
      <p:pic>
        <p:nvPicPr>
          <p:cNvPr id="7" name="Picture 6" descr="week3_A_offresonanc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2532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1417320"/>
            <a:ext cx="4023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4A35"/>
                </a:solidFill>
              </a:defRPr>
            </a:pPr>
            <a:r>
              <a:t>Off-resonance averages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6B78"/>
                </a:solidFill>
              </a:defRPr>
            </a:pPr>
            <a:r>
              <a:t>비공명 평균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800" b="1">
                <a:solidFill>
                  <a:srgbClr val="1F1F24"/>
                </a:solidFill>
              </a:defRPr>
            </a:pPr>
            <a:r>
              <a:t>▸  Uniform  : 3.27°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1F1F24"/>
                </a:solidFill>
              </a:defRPr>
            </a:pPr>
            <a:r>
              <a:t>▸  Non-uniform : 3.95°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800" b="1">
                <a:solidFill>
                  <a:srgbClr val="C04A35"/>
                </a:solidFill>
              </a:defRPr>
            </a:pPr>
            <a:r>
              <a:t>▸  Extra (NU − U)  : +0.69°  (+21 %)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1F1F24"/>
                </a:solidFill>
              </a:defRPr>
            </a:pPr>
            <a:endParaRPr/>
          </a:p>
          <a:p>
            <a:pPr algn="l">
              <a:spcBef>
                <a:spcPts val="1000"/>
              </a:spcBef>
              <a:spcAft>
                <a:spcPts val="200"/>
              </a:spcAft>
              <a:defRPr sz="1800" b="1">
                <a:solidFill>
                  <a:srgbClr val="C04A35"/>
                </a:solidFill>
              </a:defRPr>
            </a:pPr>
            <a:r>
              <a:t>Reading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6B78"/>
                </a:solidFill>
              </a:defRPr>
            </a:pPr>
            <a:r>
              <a:t>해석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1F1F24"/>
                </a:solidFill>
              </a:defRPr>
            </a:pPr>
            <a:r>
              <a:t>• 21% extra distortion is purely from α-inhomogeneity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6B78"/>
                </a:solidFill>
              </a:defRPr>
            </a:pPr>
            <a:r>
              <a:t>  추가 왜곡은 순수 α 비균일성에서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1F1F24"/>
                </a:solidFill>
              </a:defRPr>
            </a:pPr>
            <a:r>
              <a:t>• Isolated-atom design under-estimates phase error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6B78"/>
                </a:solidFill>
              </a:defRPr>
            </a:pPr>
            <a:r>
              <a:t>  isolated 설계는 위상 오차 과소평가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Result C + F — Symmetry break &amp; α-ordering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결과 C + F — 대칭 깨짐 &amp; α-순서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7 / 15</a:t>
            </a:r>
          </a:p>
        </p:txBody>
      </p:sp>
      <p:pic>
        <p:nvPicPr>
          <p:cNvPr id="7" name="Picture 6" descr="week3_C_phas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669280" cy="3188970"/>
          </a:xfrm>
          <a:prstGeom prst="rect">
            <a:avLst/>
          </a:prstGeom>
        </p:spPr>
      </p:pic>
      <p:pic>
        <p:nvPicPr>
          <p:cNvPr id="8" name="Picture 7" descr="week3_F_alpha_ord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31889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5989320"/>
            <a:ext cx="11521440" cy="64008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12700">
            <a:solidFill>
              <a:srgbClr val="0F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2E5C"/>
                </a:solidFill>
              </a:defRPr>
            </a:pPr>
            <a:r>
              <a:t>Mirror symmetry: uniform 0° vs non-uniform −0.96°  ·  α-ordering: ascending 5.10°  vs random 5.2 – 7.6° (+50 %)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Result D + E — Numerical soundness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결과 D + E — 수치적 건전성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8 / 15</a:t>
            </a:r>
          </a:p>
        </p:txBody>
      </p:sp>
      <p:pic>
        <p:nvPicPr>
          <p:cNvPr id="7" name="Picture 6" descr="week3_D_cond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669280" cy="3188970"/>
          </a:xfrm>
          <a:prstGeom prst="rect">
            <a:avLst/>
          </a:prstGeom>
        </p:spPr>
      </p:pic>
      <p:pic>
        <p:nvPicPr>
          <p:cNvPr id="8" name="Picture 7" descr="week3_E_energy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31889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5943600"/>
            <a:ext cx="11521440" cy="68580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15240">
            <a:solidFill>
              <a:srgbClr val="1F7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7B4C"/>
                </a:solidFill>
              </a:defRPr>
            </a:pPr>
            <a:r>
              <a:t>κ(A) ≤ 1.95 even at Wood anomaly  •  P_ext, P_abs &gt; 0; residual stays bounded  →  Wood-anomaly peaks are real physics, not numerical artefacts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6B78"/>
                </a:solidFill>
              </a:defRPr>
            </a:pPr>
            <a:r>
              <a:t>조건수 ≤ 2 &amp; 에너지 양수 + 유계 → 격자 공명은 진짜 물리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FDTD Cross-Validation (Tidy3D)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Tidy3D FDTD 외부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9 / 15</a:t>
            </a:r>
          </a:p>
        </p:txBody>
      </p:sp>
      <p:pic>
        <p:nvPicPr>
          <p:cNvPr id="7" name="Picture 6" descr="fdtd_vs_cda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7040880" cy="4302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4A35"/>
                </a:solidFill>
              </a:defRPr>
            </a:pPr>
            <a:r>
              <a:t>Setup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6B78"/>
                </a:solidFill>
              </a:defRPr>
            </a:pPr>
            <a:r>
              <a:t>설정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1F1F24"/>
                </a:solidFill>
              </a:defRPr>
            </a:pPr>
            <a:r>
              <a:t>• 11 Lorentz cylinders, λ = 1 μm, TM E∥z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B6B78"/>
                </a:solidFill>
              </a:defRPr>
            </a:pPr>
            <a:r>
              <a:t>  Lorentz 매질 실린더 11개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1F1F24"/>
                </a:solidFill>
              </a:defRPr>
            </a:pPr>
            <a:r>
              <a:t>• 10 array periods + 1 calibration, ~0.3 FlexCredit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B6B78"/>
                </a:solidFill>
              </a:defRPr>
            </a:pPr>
            <a:r>
              <a:t>  11개 시뮬, 약 0.3 FlexCredit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1F1F24"/>
                </a:solidFill>
              </a:defRPr>
            </a:pPr>
            <a:r>
              <a:t>• Same geometry &amp; polarization as CDA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B6B78"/>
                </a:solidFill>
              </a:defRPr>
            </a:pPr>
            <a:r>
              <a:t>  CDA와 동일한 셋업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657600"/>
            <a:ext cx="4389120" cy="274320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19050">
            <a:solidFill>
              <a:srgbClr val="1F7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F7B4C"/>
                </a:solidFill>
              </a:defRPr>
            </a:pPr>
            <a:r>
              <a:t>Verdict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6B78"/>
                </a:solidFill>
              </a:defRPr>
            </a:pPr>
            <a:r>
              <a:t>검증 결과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1F1F24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1F7B4C"/>
                </a:solidFill>
              </a:defRPr>
            </a:pPr>
            <a:r>
              <a:t>▸  Both methods peak sharply at P = λ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B6B78"/>
                </a:solidFill>
              </a:defRPr>
            </a:pPr>
            <a:r>
              <a:t>    Wood anomaly → real physics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1F7B4C"/>
                </a:solidFill>
              </a:defRPr>
            </a:pPr>
            <a:r>
              <a:t>▸  Sub-λ window:  RMS ≈ 3°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B6B78"/>
                </a:solidFill>
              </a:defRPr>
            </a:pPr>
            <a:r>
              <a:t>    central P range agreement &lt; 1°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1F1F24"/>
                </a:solidFill>
              </a:defRPr>
            </a:pPr>
            <a:r>
              <a:t>▸  CDA validated by independent full-wave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B6B78"/>
                </a:solidFill>
              </a:defRPr>
            </a:pPr>
            <a:r>
              <a:t>    독립적 full-wave 기준 검증 완료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Reliability — multi-seed + grading + N→∞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신뢰성 검증 — 다중시드 + 그래디언트 + N→∞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10 / 15</a:t>
            </a:r>
          </a:p>
        </p:txBody>
      </p:sp>
      <p:pic>
        <p:nvPicPr>
          <p:cNvPr id="7" name="Picture 6" descr="reliability_s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486400" cy="2110153"/>
          </a:xfrm>
          <a:prstGeom prst="rect">
            <a:avLst/>
          </a:prstGeom>
        </p:spPr>
      </p:pic>
      <p:pic>
        <p:nvPicPr>
          <p:cNvPr id="8" name="Picture 7" descr="reliability_grading_magnit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3740727" cy="2286000"/>
          </a:xfrm>
          <a:prstGeom prst="rect">
            <a:avLst/>
          </a:prstGeom>
        </p:spPr>
      </p:pic>
      <p:pic>
        <p:nvPicPr>
          <p:cNvPr id="9" name="Picture 8" descr="reliability_N_converg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703320"/>
            <a:ext cx="3740727" cy="2286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65760" y="6035040"/>
            <a:ext cx="11521440" cy="59436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12700">
            <a:solidFill>
              <a:srgbClr val="0F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2E5C"/>
                </a:solidFill>
              </a:defRPr>
            </a:pPr>
            <a:r>
              <a:t>80-seed median β = 1.09  •  90 % band [0.63, 1.61]  •  grading ≤ 0.20 π stable  •  N → ∞ limit ≈ 6.32°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Robustness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Robustness 종합 — 4가지 독립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4A35"/>
                </a:solidFill>
              </a:defRPr>
            </a:pPr>
            <a:r>
              <a:t>(a) Array size N  |  배열 크기 N</a:t>
            </a:r>
          </a:p>
        </p:txBody>
      </p:sp>
      <p:pic>
        <p:nvPicPr>
          <p:cNvPr id="8" name="Picture 7" descr="Q_N_depe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27632"/>
            <a:ext cx="3366654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1325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4A35"/>
                </a:solidFill>
              </a:defRPr>
            </a:pPr>
            <a:r>
              <a:t>(b) α-grading width  |  그래디언트 폭</a:t>
            </a:r>
          </a:p>
        </p:txBody>
      </p:sp>
      <p:pic>
        <p:nvPicPr>
          <p:cNvPr id="10" name="Picture 9" descr="Q_grading_wid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27632"/>
            <a:ext cx="3366654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3749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4A35"/>
                </a:solidFill>
              </a:defRPr>
            </a:pPr>
            <a:r>
              <a:t>(c) 50 random α profiles  |  랜덤 α 프로파일</a:t>
            </a:r>
          </a:p>
        </p:txBody>
      </p:sp>
      <p:pic>
        <p:nvPicPr>
          <p:cNvPr id="12" name="Picture 11" descr="Q_reliability_b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050792"/>
            <a:ext cx="3366654" cy="2057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6480" y="3749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4A35"/>
                </a:solidFill>
              </a:defRPr>
            </a:pPr>
            <a:r>
              <a:t>(d) FDTD vs CDA (sub-λ)  |  FDTD 외부 검증</a:t>
            </a:r>
          </a:p>
        </p:txBody>
      </p:sp>
      <p:pic>
        <p:nvPicPr>
          <p:cNvPr id="14" name="Picture 13" descr="Q_fdtd_comparison_subwaveleng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050792"/>
            <a:ext cx="3366654" cy="2057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65760" y="6217920"/>
            <a:ext cx="11521440" cy="41148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12700">
            <a:solidFill>
              <a:srgbClr val="1F7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7B4C"/>
                </a:solidFill>
              </a:defRPr>
            </a:pPr>
            <a:r>
              <a:t>β stays in [0.78, 1.15] across N, grading widths up to 0.20π, random α profiles; FDTD agreement well within power-law band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Physics vs Numerics vs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차이의 원인 분류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78"/>
                </a:solidFill>
              </a:defRPr>
            </a:pPr>
            <a:r>
              <a:t>Every observed feature classified by origin (PDF Week 4 requirement)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E5C"/>
                </a:solidFill>
              </a:defRPr>
            </a:pPr>
            <a:r>
              <a:t>Observed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920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E5C"/>
                </a:solidFill>
              </a:defRPr>
            </a:pPr>
            <a:r>
              <a:t>Origin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9202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E5C"/>
                </a:solidFill>
              </a:defRPr>
            </a:pPr>
            <a:r>
              <a:t>Comment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11338560" cy="384048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24"/>
                </a:solidFill>
              </a:defRPr>
            </a:pPr>
            <a:r>
              <a:t>Power law β ≈ 0.9 (Q1, Q6)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3317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7B4C"/>
                </a:solidFill>
              </a:defRPr>
            </a:pPr>
            <a:r>
              <a:t>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3317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8"/>
                </a:solidFill>
              </a:defRPr>
            </a:pPr>
            <a:r>
              <a:t>1/P from 2D Hankel sum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97480"/>
            <a:ext cx="11338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432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24"/>
                </a:solidFill>
              </a:defRPr>
            </a:pPr>
            <a:r>
              <a:t>+21 % extra distortion (A)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7432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7B4C"/>
                </a:solidFill>
              </a:defRPr>
            </a:pPr>
            <a:r>
              <a:t>Physics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27432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8"/>
                </a:solidFill>
              </a:defRPr>
            </a:pPr>
            <a:r>
              <a:t>α-inhomogeneity adds coupling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11338560" cy="384048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1546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24"/>
                </a:solidFill>
              </a:defRPr>
            </a:pPr>
            <a:r>
              <a:t>Wood-anomaly peaks (CDA + FDTD)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1546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7B4C"/>
                </a:solidFill>
              </a:defRPr>
            </a:pPr>
            <a:r>
              <a:t>Physics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1546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8"/>
                </a:solidFill>
              </a:defRPr>
            </a:pPr>
            <a:r>
              <a:t>lattice resonance, both methods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520440"/>
            <a:ext cx="11338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5661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24"/>
                </a:solidFill>
              </a:defRPr>
            </a:pPr>
            <a:r>
              <a:t>Mirror symmetry break (C)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35661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4CA0"/>
                </a:solidFill>
              </a:defRPr>
            </a:pPr>
            <a:r>
              <a:t>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35661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8"/>
                </a:solidFill>
              </a:defRPr>
            </a:pPr>
            <a:r>
              <a:t>graded α by construction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31920"/>
            <a:ext cx="11338560" cy="384048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9776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24"/>
                </a:solidFill>
              </a:defRPr>
            </a:pPr>
            <a:r>
              <a:t>α-ordering +50 % (F)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39776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4CA0"/>
                </a:solidFill>
              </a:defRPr>
            </a:pPr>
            <a:r>
              <a:t>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9776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8"/>
                </a:solidFill>
              </a:defRPr>
            </a:pPr>
            <a:r>
              <a:t>smooth gradient is coupling-tolerant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43400"/>
            <a:ext cx="11338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43891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24"/>
                </a:solidFill>
              </a:defRPr>
            </a:pPr>
            <a:r>
              <a:t>β depends on F (Q8)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3891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7B4C"/>
                </a:solidFill>
              </a:defRPr>
            </a:pPr>
            <a:r>
              <a:t>Physics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4389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8"/>
                </a:solidFill>
              </a:defRPr>
            </a:pPr>
            <a:r>
              <a:t>self-consistent coupling regime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754880"/>
            <a:ext cx="11338560" cy="384048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48006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24"/>
                </a:solidFill>
              </a:defRPr>
            </a:pPr>
            <a:r>
              <a:t>κ(A) ≤ 2 (D)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4800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E5C"/>
                </a:solidFill>
              </a:defRPr>
            </a:pPr>
            <a:r>
              <a:t>Numerics-sound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80" y="48006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8"/>
                </a:solidFill>
              </a:defRPr>
            </a:pPr>
            <a:r>
              <a:t>no solver artefact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166360"/>
            <a:ext cx="11338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52120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24"/>
                </a:solidFill>
              </a:defRPr>
            </a:pPr>
            <a:r>
              <a:t>P_ext, P_abs &gt; 0 (E)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52120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E5C"/>
                </a:solidFill>
              </a:defRPr>
            </a:pPr>
            <a:r>
              <a:t>Numerics-sound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80" y="52120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8"/>
                </a:solidFill>
              </a:defRPr>
            </a:pPr>
            <a:r>
              <a:t>energy bookkeeping is consistent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577840"/>
            <a:ext cx="11338560" cy="384048"/>
          </a:xfrm>
          <a:prstGeom prst="roundRect">
            <a:avLst>
              <a:gd name="adj" fmla="val 20000"/>
            </a:avLst>
          </a:prstGeom>
          <a:solidFill>
            <a:srgbClr val="F6F8FC"/>
          </a:solidFill>
          <a:ln w="6350"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56235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1F24"/>
                </a:solidFill>
              </a:defRPr>
            </a:pPr>
            <a:r>
              <a:t>CDA ↔ FDTD agreement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56235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7B4C"/>
                </a:solidFill>
              </a:defRPr>
            </a:pPr>
            <a:r>
              <a:t>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56235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8"/>
                </a:solidFill>
              </a:defRPr>
            </a:pPr>
            <a:r>
              <a:t>independent full-wave reference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한계점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1F1F24"/>
                </a:solidFill>
              </a:defRPr>
            </a:pPr>
            <a:r>
              <a:t>• Point-dipole approximation: no multipole content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B6B78"/>
                </a:solidFill>
              </a:defRPr>
            </a:pPr>
            <a:r>
              <a:t>  점 쌍극자 가정 — 다중극 효과 미포함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1F1F24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1F1F24"/>
                </a:solidFill>
              </a:defRPr>
            </a:pPr>
            <a:r>
              <a:t>• 2D scalar geometry: TM only, no 3D vector effects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B6B78"/>
                </a:solidFill>
              </a:defRPr>
            </a:pPr>
            <a:r>
              <a:t>  2D scalar 모델 — TM 모드만, 3D 벡터 미반영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1F1F24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1F1F24"/>
                </a:solidFill>
              </a:defRPr>
            </a:pPr>
            <a:r>
              <a:t>• No substrate: free-space Green function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B6B78"/>
                </a:solidFill>
              </a:defRPr>
            </a:pPr>
            <a:r>
              <a:t>  기판 효과 미포함 — 자유공간 Green 함수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1F1F24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1F1F24"/>
                </a:solidFill>
              </a:defRPr>
            </a:pPr>
            <a:r>
              <a:t>• Finite 1D array: edge effect decays only as 1/√N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B6B78"/>
                </a:solidFill>
              </a:defRPr>
            </a:pPr>
            <a:r>
              <a:t>  유한 배열 — edge effect 1/√N 감쇠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1F1F24"/>
                </a:solidFill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1F1F24"/>
                </a:solidFill>
              </a:defRPr>
            </a:pPr>
            <a:r>
              <a:t>• No radiation-reaction correction to α (standard CDA)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B6B78"/>
                </a:solidFill>
              </a:defRPr>
            </a:pPr>
            <a:r>
              <a:t>  α의 radiation-reaction 보정 없음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What I Verified Myself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직접 검증한 항목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1000"/>
              </a:spcBef>
              <a:spcAft>
                <a:spcPts val="200"/>
              </a:spcAft>
              <a:defRPr sz="1700" b="1">
                <a:solidFill>
                  <a:srgbClr val="1F7B4C"/>
                </a:solidFill>
              </a:defRPr>
            </a:pPr>
            <a:r>
              <a:t>▸  10 / 10 internal physics tests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78"/>
                </a:solidFill>
              </a:defRPr>
            </a:pPr>
            <a:r>
              <a:t>     10가지 내부 물리 테스트 통과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700" b="1">
                <a:solidFill>
                  <a:srgbClr val="1F7B4C"/>
                </a:solidFill>
              </a:defRPr>
            </a:pPr>
            <a:r>
              <a:t>▸  FDTD cross-validation at 10 different periods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78"/>
                </a:solidFill>
              </a:defRPr>
            </a:pPr>
            <a:r>
              <a:t>     10개 다른 P에서 FDTD 외부 검증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700" b="1">
                <a:solidFill>
                  <a:srgbClr val="1F7B4C"/>
                </a:solidFill>
              </a:defRPr>
            </a:pPr>
            <a:r>
              <a:t>▸  β = 0.90 ± 0.10 with explicit log-log uncertainty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78"/>
                </a:solidFill>
              </a:defRPr>
            </a:pPr>
            <a:r>
              <a:t>     log-log 회귀로 β의 1-σ 명시적 측정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700" b="1">
                <a:solidFill>
                  <a:srgbClr val="1F7B4C"/>
                </a:solidFill>
              </a:defRPr>
            </a:pPr>
            <a:r>
              <a:t>▸  Robustness: N 11–81, grading 0 – 0.20 π, random α, F 0.5 – 8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78"/>
                </a:solidFill>
              </a:defRPr>
            </a:pPr>
            <a:r>
              <a:t>     다양한 N, grading 폭, random α, F 에 대한 robustness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700" b="1">
                <a:solidFill>
                  <a:srgbClr val="1F7B4C"/>
                </a:solidFill>
              </a:defRPr>
            </a:pPr>
            <a:r>
              <a:t>▸  Reliability: 80-seed bootstrap + 1/√N N→∞ extrapolation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78"/>
                </a:solidFill>
              </a:defRPr>
            </a:pPr>
            <a:r>
              <a:t>     80-seed 부트스트랩 + 1/√N 외삽 reliability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700" b="1">
                <a:solidFill>
                  <a:srgbClr val="1F7B4C"/>
                </a:solidFill>
              </a:defRPr>
            </a:pPr>
            <a:r>
              <a:t>▸  Origin classification: every feature traced to physics / design / numerics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78"/>
                </a:solidFill>
              </a:defRPr>
            </a:pPr>
            <a:r>
              <a:t>     모든 관찰을 physics / design / numerics 로 분류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E5C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78"/>
                </a:solidFill>
              </a:defRPr>
            </a:pPr>
            <a:r>
              <a:t>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1155680" cy="27432"/>
          </a:xfrm>
          <a:prstGeom prst="rect">
            <a:avLst/>
          </a:prstGeom>
          <a:solidFill>
            <a:srgbClr val="C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A5"/>
                </a:solidFill>
              </a:defRPr>
            </a:pPr>
            <a:r>
              <a:t>15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32720" cy="146304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25400">
            <a:solidFill>
              <a:srgbClr val="1F7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800" b="0">
                <a:solidFill>
                  <a:srgbClr val="1F1F24"/>
                </a:solidFill>
              </a:defRPr>
            </a:pPr>
            <a:endParaRPr/>
          </a:p>
        </p:txBody>
      </p:sp>
      <p:pic>
        <p:nvPicPr>
          <p:cNvPr id="8" name="Picture 7" descr="eq_45be71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7655197" cy="777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3154680"/>
            <a:ext cx="5486400" cy="150876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19050">
            <a:solidFill>
              <a:srgbClr val="1F7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1F7B4C"/>
                </a:solidFill>
              </a:defRPr>
            </a:pPr>
            <a:r>
              <a:t>Robust across N, grading, random α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1F1F24"/>
                </a:solidFill>
              </a:defRPr>
            </a:pPr>
            <a:r>
              <a:t>β = 0.78 – 1.15 across all conditions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B6B78"/>
                </a:solidFill>
              </a:defRPr>
            </a:pPr>
            <a:r>
              <a:t>N, 그래디언트 폭, random α 에 robust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154680"/>
            <a:ext cx="5486400" cy="150876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19050">
            <a:solidFill>
              <a:srgbClr val="0F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0F2E5C"/>
                </a:solidFill>
              </a:defRPr>
            </a:pPr>
            <a:r>
              <a:t>Cross-validated by Tidy3D FDTD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1F1F24"/>
                </a:solidFill>
              </a:defRPr>
            </a:pPr>
            <a:r>
              <a:t>10 cloud sims, RMS = 2.9° sub-λ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B6B78"/>
                </a:solidFill>
              </a:defRPr>
            </a:pPr>
            <a:r>
              <a:t>10개 P에서 FDTD 외부 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46320"/>
            <a:ext cx="5486400" cy="150876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19050">
            <a:solidFill>
              <a:srgbClr val="C0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C04A35"/>
                </a:solidFill>
              </a:defRPr>
            </a:pPr>
            <a:r>
              <a:t>β tunes 1.2 → 0.5 with coupling F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1F1F24"/>
                </a:solidFill>
              </a:defRPr>
            </a:pPr>
            <a:r>
              <a:t>weak → strong coupling regime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B6B78"/>
                </a:solidFill>
              </a:defRPr>
            </a:pPr>
            <a:r>
              <a:t>결합 강도 F에 따라 β 1.2 → 0.5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846320"/>
            <a:ext cx="5486400" cy="1508760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19050">
            <a:solidFill>
              <a:srgbClr val="6B4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6B4CA0"/>
                </a:solidFill>
              </a:defRPr>
            </a:pPr>
            <a:r>
              <a:t>Wood anomaly is real physics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1F1F24"/>
                </a:solidFill>
              </a:defRPr>
            </a:pPr>
            <a:r>
              <a:t>confirmed by both CDA and FDTD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B6B78"/>
                </a:solidFill>
              </a:defRPr>
            </a:pPr>
            <a:r>
              <a:t>Wood anomaly 는 두 방법 모두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1477</Words>
  <Application>Microsoft Office PowerPoint</Application>
  <PresentationFormat>와이드스크린</PresentationFormat>
  <Paragraphs>230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영빈 송</cp:lastModifiedBy>
  <cp:revision>3</cp:revision>
  <dcterms:created xsi:type="dcterms:W3CDTF">2013-01-27T09:14:16Z</dcterms:created>
  <dcterms:modified xsi:type="dcterms:W3CDTF">2026-05-18T00:16:53Z</dcterms:modified>
  <cp:category/>
</cp:coreProperties>
</file>